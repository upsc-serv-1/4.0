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1):</a:t>
            </a:r>
          </a:p>
          <a:p>
            <a:r>
              <a:t>1. Start with high enthusiasm and welcome all UPSC aspirants.</a:t>
            </a:r>
          </a:p>
          <a:p>
            <a:r>
              <a:t>2. State the goal of this introductory session: To demystify Sociology Optional and chart a 300+ score roadmap.</a:t>
            </a:r>
          </a:p>
          <a:p>
            <a:r>
              <a:t>3. Emphasize that Sociology is not just memorization—it is about developing a perspective (Sociological Imagination).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2):</a:t>
            </a:r>
          </a:p>
          <a:p>
            <a:r>
              <a:t>1. Explain the Return on Investment (ROI) of Sociology Optional in overall UPSC Mains score (GS1 + Essay + Ethics + Optional = ~1000+ marks influenced).</a:t>
            </a:r>
          </a:p>
          <a:p>
            <a:r>
              <a:t>2. Address student fear: 'Do I need a background in humanities?' Answer: No! 80% toppers come from non-humanities background.</a:t>
            </a:r>
          </a:p>
          <a:p>
            <a:r>
              <a:t>3. Highlight syllabus predictability andPYQ repetition.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3):</a:t>
            </a:r>
          </a:p>
          <a:p>
            <a:r>
              <a:t>1. Define Sociological Imagination (C. Wright Mills): Connecting personal troubles to public issues.</a:t>
            </a:r>
          </a:p>
          <a:p>
            <a:r>
              <a:t>2. Demarcate Paper 1 (Theoretical base) vs Paper 2 (Application on Indian Society).</a:t>
            </a:r>
          </a:p>
          <a:p>
            <a:r>
              <a:t>3. Emphasize that Paper 2 CANNOT be answered like GS Paper 1; it requires Paper 1 thinker concepts and terminology!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4):</a:t>
            </a:r>
          </a:p>
          <a:p>
            <a:r>
              <a:t>1. Explain why good GS writers fail in Sociology: Lack of sociological terminology and thinker anchoring.</a:t>
            </a:r>
          </a:p>
          <a:p>
            <a:r>
              <a:t>2. Illustrate how a 10-marker requires precision while a 20-marker requires critical evaluation (critique of thinkers).</a:t>
            </a:r>
          </a:p>
          <a:p>
            <a:r>
              <a:t>3. Reassure students that answer writing will be taught step-by-step from Day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5):</a:t>
            </a:r>
          </a:p>
          <a:p>
            <a:r>
              <a:t>1. Show how brainstorming prevents blank-outs in the exam hall.</a:t>
            </a:r>
          </a:p>
          <a:p>
            <a:r>
              <a:t>2. Teach the 'Sociological Lenses' formula: For any topic (e.g. Technology &amp; Family), view it via Functionalism, Conflict, and Feminist lenses.</a:t>
            </a:r>
          </a:p>
          <a:p>
            <a:r>
              <a:t>3. Emphasize practice of 60-second point generation on PYQs.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6):</a:t>
            </a:r>
          </a:p>
          <a:p>
            <a:r>
              <a:t>1. Highlight that top scorers (300+ marks) stand out because of seamless Paper 1 + Paper 2 interlinkage.</a:t>
            </a:r>
          </a:p>
          <a:p>
            <a:r>
              <a:t>2. Explain how to convert current news into sociological answers using sociological terms.</a:t>
            </a:r>
          </a:p>
          <a:p>
            <a:r>
              <a:t>3. Provide examples of visual diagrams that take 20 seconds to draw but add 1-2 extra marks per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7):</a:t>
            </a:r>
          </a:p>
          <a:p>
            <a:r>
              <a:t>1. Warn students against copying standard textbooks blindly into notebooks.</a:t>
            </a:r>
          </a:p>
          <a:p>
            <a:r>
              <a:t>2. Demonstrate the 'One-Page per Thinker' formula.</a:t>
            </a:r>
          </a:p>
          <a:p>
            <a:r>
              <a:t>3. Emphasize that notes should be written with answer writing in mind (bulleted, structured, concise).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8):</a:t>
            </a:r>
          </a:p>
          <a:p>
            <a:r>
              <a:t>1. Outline the exact classroom methodology: Concept lecture → Live PYQ discussion → Student Answer submission → Feedback.</a:t>
            </a:r>
          </a:p>
          <a:p>
            <a:r>
              <a:t>2. Assure students that they don't need to purchase 10 different books; curated handouts will cover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9):</a:t>
            </a:r>
          </a:p>
          <a:p>
            <a:r>
              <a:t>1. Explain the 3-phase timeline in detail so students see a clear vision.</a:t>
            </a:r>
          </a:p>
          <a:p>
            <a:r>
              <a:t>2. Highlight the 1-on-1 personal mentorship and detailed line-by-line answer evaluation.</a:t>
            </a:r>
          </a:p>
          <a:p>
            <a:r>
              <a:t>3. Emphasize accountability and weekly progress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10):</a:t>
            </a:r>
          </a:p>
          <a:p>
            <a:r>
              <a:t>1. Summarize key takeaways of the orientation.</a:t>
            </a:r>
          </a:p>
          <a:p>
            <a:r>
              <a:t>2. Give concrete homework for Day 1 (NCERT + Syllabus reading).</a:t>
            </a:r>
          </a:p>
          <a:p>
            <a:r>
              <a:t>3. Open the stage for student Q&amp;A and resolve all doubts warmly.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59E0B"/>
                </a:solidFill>
              </a:defRPr>
            </a:pPr>
            <a:r>
              <a:t>UPSC CSE MAINS - SOCIOLOGY OPTIONAL</a:t>
            </a:r>
          </a:p>
          <a:p>
            <a:pPr>
              <a:spcAft>
                <a:spcPts val="800"/>
              </a:spcAft>
              <a:defRPr sz="3400" b="1">
                <a:solidFill>
                  <a:srgbClr val="F8FAFC"/>
                </a:solidFill>
                <a:latin typeface="Georgia"/>
              </a:defRPr>
            </a:pPr>
            <a:r>
              <a:t>Sociology Optional: Orientation &amp; Master Plan</a:t>
            </a:r>
          </a:p>
          <a:p>
            <a:pPr>
              <a:spcAft>
                <a:spcPts val="2400"/>
              </a:spcAft>
              <a:defRPr sz="2000">
                <a:solidFill>
                  <a:srgbClr val="14B8A6"/>
                </a:solidFill>
              </a:defRPr>
            </a:pPr>
            <a:r>
              <a:t>सोशियोलॉजी ऑप्शनल में 300+ अंक लाने की सटीक रणनीति और संपूर्ण रोडमैप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</a:defRPr>
            </a:pPr>
            <a:r>
              <a:t>What We Will Master: Concept Clarity | Answer Writing | Thinker Linkages | PYQ Structuring</a:t>
            </a:r>
          </a:p>
          <a:p>
            <a:pPr>
              <a:defRPr sz="1300" b="1">
                <a:solidFill>
                  <a:srgbClr val="E2E8F0"/>
                </a:solidFill>
              </a:defRPr>
            </a:pPr>
            <a:r>
              <a:t>Mentor: UPSC Mains Candidate &amp; Sociology Mentor  |  Batch Orientation 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Why Sociology Optional? (क्यों चुनें सोशियोलॉजी ऑप्शनल?)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1. High Scoring &amp; Predictable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300+ Score Achievable: </a:t>
            </a:r>
            <a:r>
              <a:t>Repeated themes and predictable PYQ pattern make high scoring realistic.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Static + Dynamic Blend: </a:t>
            </a:r>
            <a:r>
              <a:t>Core theories remain static, allowing 70% preparation before Prelims.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Objectivity in Evaluation: </a:t>
            </a:r>
            <a:r>
              <a:t>Well-structured thinker-based answers get consistent 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2. Massive GS Overlap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GS Paper 1 (Society): </a:t>
            </a:r>
            <a:r>
              <a:t>Covers ~60-75 marks directly (Caste, Women, Secularism, Globalization).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Essay Paper: </a:t>
            </a:r>
            <a:r>
              <a:t>Provides sociological quotes, frameworks &amp; structural depth for 125-mark essays.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GS Paper 4 (Ethics): </a:t>
            </a:r>
            <a:r>
              <a:t>Helps in understanding human values, social norms, and case study contexts.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3. Accessible &amp; Engaging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No Prior Background Needed: </a:t>
            </a:r>
            <a:r>
              <a:t>Students from engineering, science, or humanities excel equally.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Relatable Content: </a:t>
            </a:r>
            <a:r>
              <a:t>Study everyday social reality—family, religion, caste, urbanization, gender.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Concise Syllabus: </a:t>
            </a:r>
            <a:r>
              <a:t>Compact syllabus compared to other optional subjects like History/Geography.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What is Sociology &amp; Syllabus Structure (विषय की समझ और सिलेबस)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Paper 1: Fundamentals of Sociology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Sociological Discipline: </a:t>
            </a:r>
            <a:r>
              <a:t>Modernity &amp; Social Changes in Europe and emergence of Sociology.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Sociology as Science: </a:t>
            </a:r>
            <a:r>
              <a:t>Methodology, Positivism vs. Non-Positivist paradigms, Research Methods.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Core Thinkers (The Heart): </a:t>
            </a:r>
            <a:r>
              <a:t>Marx, Durkheim, Weber, Parsons, Merton, Mead (6 pillars).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Social Stratification: </a:t>
            </a:r>
            <a:r>
              <a:t>Concepts, Theories of Inequality, Class, Status, Gender, Mobility.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Social Institutions: </a:t>
            </a:r>
            <a:r>
              <a:t>Work &amp; Economic life, Politics, Religion, Kinship &amp; Family.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Paper 2: Indian Society - Structure &amp;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Perspectives on Indian Society: </a:t>
            </a:r>
            <a:r>
              <a:t>Indology (GS Ghurye), Structural Functionalism (MN Srinivas), Marxist (AR Desai).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Caste &amp; Social Structure: </a:t>
            </a:r>
            <a:r>
              <a:t>Perspectives, features, untouchability, agrarian structure, class in India.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Tribal &amp; Peasant Movements: </a:t>
            </a:r>
            <a:r>
              <a:t>Colonial impact, post-independence transformation, agrarian distress.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Challenges of Transformation: </a:t>
            </a:r>
            <a:r>
              <a:t>Poverty, Violence against women, Communalism, Regionalism, Secularism.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Paper 1 + Paper 2 Bridge: </a:t>
            </a:r>
            <a:r>
              <a:t>Applying Western thinkers' concepts to Indian social realities.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Pillar #1: Answer Writing Mastery (उत्तर लेखन कला)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1. Anatomy of a Top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Introduction (10-15%): </a:t>
            </a:r>
            <a:r>
              <a:t>Sociological definition, thinker reference, or conceptual origin.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Body (75-80%): </a:t>
            </a:r>
            <a:r>
              <a:t>Multi-perspective arguments, thinker quotes, empirical data, counter-views.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Conclusion (10-15%): </a:t>
            </a:r>
            <a:r>
              <a:t>Synthesis, contemporary relevance, or visionary policy alignment.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2. Managing 10/15/20 Markers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10-Marker (150 words): </a:t>
            </a:r>
            <a:r>
              <a:t>Crisp, direct, no fluff. 2-3 key thinker references + core concept.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15-Marker (250 words): </a:t>
            </a:r>
            <a:r>
              <a:t>Balanced depth, multi-dimensional view, critiques + Indian examples.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20-Marker (250-300 w): </a:t>
            </a:r>
            <a:r>
              <a:t>In-depth critical examination, comparative perspectives, nuanced conclusion.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3. Sociology Value Additions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Sociological Keywords: </a:t>
            </a:r>
            <a:r>
              <a:t>Anomie, Hegemony, Sanskritization, Little/Great Tradition, Alienation.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Thinker Integration: </a:t>
            </a:r>
            <a:r>
              <a:t>Never write pure GS points; always anchor arguments with sociological thinkers.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Empirical Studies: </a:t>
            </a:r>
            <a:r>
              <a:t>Quote NFHS, Census, NITI Aayog reports, EPW articles, &amp; field studies.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Pillar #2: Brainstorming &amp; Multi-Dimensional Thinking (ब्रेनस्टॉर्मिंग)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1. The 360° Sociological 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Functionalist View: </a:t>
            </a:r>
            <a:r>
              <a:t>How does this institution maintain order, harmony, and integration?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Conflict / Marxist View: </a:t>
            </a:r>
            <a:r>
              <a:t>Who holds power? Who is exploited? Class &amp; structural division.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Feminist Perspective: </a:t>
            </a:r>
            <a:r>
              <a:t>Gender impact, patriarchy, unpaid labor, intersectionality.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2. Analytical 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PESTLE Framework: </a:t>
            </a:r>
            <a:r>
              <a:t>Political, Economic, Social, Technological, Legal, Environmental angles.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Micro vs. Macro: </a:t>
            </a:r>
            <a:r>
              <a:t>Individual interactions (Mead/Goffman) vs. Large structures (Parsons/Marx).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Tradition vs. Modernity: </a:t>
            </a:r>
            <a:r>
              <a:t>Continuity of traditional norms alongside modern transformations.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3. Quick Mind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60-Second Drill: </a:t>
            </a:r>
            <a:r>
              <a:t>Deconstruct the question keyword (Examine, Critically Analyze, Discuss).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Point Generation: </a:t>
            </a:r>
            <a:r>
              <a:t>Brainstorm 5 distinct dimensions before starting to write.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Avoiding Monotony: </a:t>
            </a:r>
            <a:r>
              <a:t>Use bullet points, subheadings, and mini-tables to organize thoughts.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Pillar #3: Content Structuring &amp; Interlinkages (लिंकेज और स्ट्रक्चर)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Paper 1 + Paper 2 Interlinkage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Karl Marx → Indian Agrarian Distress: </a:t>
            </a:r>
            <a:r>
              <a:t>Apply alienation and class struggle to Indian green revolution &amp; farmer issues.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Max Weber → Bureaucracy in India: </a:t>
            </a:r>
            <a:r>
              <a:t>Rational-legal authority vs. patrimonialism in Indian administration.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Durkheim → Anomie &amp; Farmer Suicides: </a:t>
            </a:r>
            <a:r>
              <a:t>Connecting breakdown of social solidarity to modern agrarian crisis.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Feminist Thinkers → Gender &amp; Caste: </a:t>
            </a:r>
            <a:r>
              <a:t>Subaltern feminism, Dalit feminism (Sharmila Rege) &amp; labor force participation.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Dynamic Content &amp; Visual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Current Affairs Integration: </a:t>
            </a:r>
            <a:r>
              <a:t>Linking news (Caste Census, Gig Economy, Urban Floods) to syllabus topics.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Visual Aids &amp; Diagrams: </a:t>
            </a:r>
            <a:r>
              <a:t>Using flowcharts, thinker comparison tables, and cycle diagrams in answers.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Case Studies &amp; Examples: </a:t>
            </a:r>
            <a:r>
              <a:t>Incorporating real-world field studies (e.g., Srinivas' Rampura, Andre Beteille's Sripuram).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Structured Paragraphing: </a:t>
            </a:r>
            <a:r>
              <a:t>Using clear subheadings and underlined key terms for readability.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Pillar #4: Smart Note-Making Strategy (स्मार्ट नोट्स बनाना)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1. One-Page Thinker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Core Methodology: </a:t>
            </a:r>
            <a:r>
              <a:t>Ontology, Epistemology, Methodological approach in 3 lines.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Key Theories &amp; Terms: </a:t>
            </a:r>
            <a:r>
              <a:t>Top 4-5 concepts with exact sociological terms.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Critiques &amp; Counter-Thinkers: </a:t>
            </a:r>
            <a:r>
              <a:t>Who criticized them and why (e.g., Merton critiquing Parsons).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Contemporary Relevance: </a:t>
            </a:r>
            <a:r>
              <a:t>How to use this thinker in 2026/2027 Mains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2. Value Addition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Data &amp; Fact Book: </a:t>
            </a:r>
            <a:r>
              <a:t>NFHS-5, PLFS data, Census 2011, Crime in India (NCRB) statistics.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Sociologists &amp; Books: </a:t>
            </a:r>
            <a:r>
              <a:t>Key book titles and famous sociologists for quick referencing.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Government Schemes: </a:t>
            </a:r>
            <a:r>
              <a:t>Sociological perspective on schemes (BETI BACHAO, MGNREGA, PM-KISAN).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3. PYQ-Centric Consolidation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10-Year PYQ Mapping: </a:t>
            </a:r>
            <a:r>
              <a:t>Group PYQs topic-wise to identify repeating sub-themes.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Ready-Made Frameworks: </a:t>
            </a:r>
            <a:r>
              <a:t>Draft skeleton intro-conclusions for recurring themes.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Micro-Notes: </a:t>
            </a:r>
            <a:r>
              <a:t>Consolidate entire syllabus into 50 pages of micro-notes before Mains.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Course Methodology &amp; Learning Deliverables (हम कैसे पढ़ेंगे?)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1. Conceptual Clarity &amp; Lectures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Zero-to-Hero Pedagogy: </a:t>
            </a:r>
            <a:r>
              <a:t>Start from basic NCERT concepts and build up to Haralambos &amp; Ritzer level.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Interactive Teaching: </a:t>
            </a:r>
            <a:r>
              <a:t>Bilingual (Hindi + English) explanation with real-life Indian social examples.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Thinker Masterclasses: </a:t>
            </a:r>
            <a:r>
              <a:t>In-depth sessions on 6 core thinkers of Paper 1 and Indian sociologists.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2. Daily &amp; Weekly Drills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Daily 1-Question Practice: </a:t>
            </a:r>
            <a:r>
              <a:t>Build daily writing habit without feeling overwhelmed.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Live Answer Deconstruction: </a:t>
            </a:r>
            <a:r>
              <a:t>Deconstructing model answers live in class together.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Weekly Brainstorming Workshops: </a:t>
            </a:r>
            <a:r>
              <a:t>Practice point generation on tricky PYQs.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3. Quality Study Material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Concise Mind Maps &amp; Notes: </a:t>
            </a:r>
            <a:r>
              <a:t>Topic-wise structured handouts eliminating heavy multi-book reading.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PYQ Bank with Model Answers: </a:t>
            </a:r>
            <a:r>
              <a:t>Comprehensive 10-year PYQ solution bank.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Current Sociology Digest: </a:t>
            </a:r>
            <a:r>
              <a:t>Monthly compilation of sociological current affairs &amp; case studies.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Mentorship Roadmap &amp; Test Series Plan (मेंटॉरशिप और टेस्ट प्लान)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Phase 1: Foundation (Weeks 1-8)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Focus: </a:t>
            </a:r>
            <a:r>
              <a:t>Paper 1 Fundamentals + Core Western Thinkers.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Deliverable: </a:t>
            </a:r>
            <a:r>
              <a:t>Concept building, basic note making &amp; daily 1-answer practice.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Milestone: </a:t>
            </a:r>
            <a:r>
              <a:t>Mastery over 6 core thinkers &amp; methodological foundation.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Phase 2: Application (Weeks 9-16)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Focus: </a:t>
            </a:r>
            <a:r>
              <a:t>Paper 2 Indian Society + Interlinkages with Paper 1.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Deliverable: </a:t>
            </a:r>
            <a:r>
              <a:t>Sectional Tests + Value addition data &amp; case study integration.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Milestone: </a:t>
            </a:r>
            <a:r>
              <a:t>Completion of full syllabus notes &amp; PYQ coverage.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Phase 3: Mains Drill (Post-Prelims)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Focus: </a:t>
            </a:r>
            <a:r>
              <a:t>Full Length Test Series &amp; Simulation under exam conditions.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Deliverable: </a:t>
            </a:r>
            <a:r>
              <a:t>1-on-1 Mentorship evaluation &amp; fine-tuning answer speed.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Milestone: </a:t>
            </a:r>
            <a:r>
              <a:t>Target 300+ Marks Readiness in Mains!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UPSC CSE SOCIOLOGY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Student Action Plan &amp; Day 1 Next Steps (विद्यार्थी कार्य योजना)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1. Day 1 Immediate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Print &amp; Paste Syllabus: </a:t>
            </a:r>
            <a:r>
              <a:t>Keep printed syllabus copy on study table; read it twice daily.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NCERT Reading: </a:t>
            </a:r>
            <a:r>
              <a:t>Read Class 11th &amp; 12th Sociology NCERTs (Introducing Sociology &amp; Indian Society).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PYQ Familiarization: </a:t>
            </a:r>
            <a:r>
              <a:t>Glance through last 5 years' UPSC Sociology optional papers.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2. Recommended Booklist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Paper 1 Base: </a:t>
            </a:r>
            <a:r>
              <a:t>Haralambos &amp; Holborn (Essential/Orange book) or Ritzer (for Thinkers).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Paper 2 Base: </a:t>
            </a:r>
            <a:r>
              <a:t>Indian Social System (Ram Ahuja) / Social Change in Modern India (MN Srinivas).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Class Handouts: </a:t>
            </a:r>
            <a:r>
              <a:t>Rely primary on our curated topic-wise consolidated notes!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3. Final Words &amp; 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Consistency Over Intensity: </a:t>
            </a:r>
            <a:r>
              <a:t>Write 1 answer daily rather than 10 answers once a month.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Trust the Process: </a:t>
            </a:r>
            <a:r>
              <a:t>Sociology is an enjoyable, rewarding subject when approached logically.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b="1">
                <a:solidFill>
                  <a:srgbClr val="14B8A6"/>
                </a:solidFill>
              </a:rPr>
              <a:t>• Open Floor for Questions: </a:t>
            </a:r>
            <a:r>
              <a:t>Let's address all your doubts and questions now!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