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Explain 300+ score vision and demystify Sociology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ROI of Sociology in Mains. Address myth: Non-humanities students can easily score 300+.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C. Wright Mills' Sociological Imagination. Highlight Paper 1 theory + Paper 2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difference between GS answer and Sociology answer. Focus on terminology and thinker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60-second mind map formula to avoid getting stuck during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300+ marks toppers stand out because of seamless Paper 1 + Paper 2 interlinkage.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Warn against copying textbooks. Explain 1-Page Thinker Sheet &amp; 50-Page micro-notes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classroom workflow: Concept Lecture -&gt; Live PYQ Discussion -&gt; Student Writing -&gt; Personal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3-phase timeline. Highlight 1-on-1 personal mentorship.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Day 1 homework. Open floor for student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97706"/>
                </a:solidFill>
              </a:defRPr>
            </a:pPr>
            <a:r>
              <a:t>UPSC CSE MAINS • SOCIOLOGY OPTIONAL</a:t>
            </a:r>
          </a:p>
          <a:p>
            <a:pPr>
              <a:spcAft>
                <a:spcPts val="800"/>
              </a:spcAft>
              <a:defRPr sz="3200" b="1">
                <a:solidFill>
                  <a:srgbClr val="0F172A"/>
                </a:solidFill>
                <a:latin typeface="Georgia"/>
              </a:defRPr>
            </a:pPr>
            <a:r>
              <a:t>Sociology Optional: Strategy &amp; Roadmap</a:t>
            </a:r>
          </a:p>
          <a:p>
            <a:pPr>
              <a:spcAft>
                <a:spcPts val="2000"/>
              </a:spcAft>
              <a:defRPr sz="1800" b="1">
                <a:solidFill>
                  <a:srgbClr val="2563EB"/>
                </a:solidFill>
              </a:defRPr>
            </a:pPr>
            <a:r>
              <a:t>300+ Marks Strategy, Concept Clarity &amp; Mentorship Plan</a:t>
            </a:r>
          </a:p>
          <a:p>
            <a:pPr>
              <a:spcAft>
                <a:spcPts val="2000"/>
              </a:spcAft>
              <a:defRPr sz="1300">
                <a:solidFill>
                  <a:srgbClr val="475569"/>
                </a:solidFill>
              </a:defRPr>
            </a:pPr>
            <a:r>
              <a:t>Key Pillars: Concept Clarity | Answer Writing | Thinker Linkages | PYQ Structuring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Mentor: UPSC Mains Candidate &amp; Sociology Mentor  |  Batch Orientation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Why Sociology Optional? (Kyun Chune Sociology?)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1. High Scoring (300+ Target)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Predictable PYQs: </a:t>
            </a:r>
            <a:r>
              <a:rPr>
                <a:solidFill>
                  <a:srgbClr val="475569"/>
                </a:solidFill>
              </a:rPr>
              <a:t>Repeated question themes make preparation laser-targeted.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70% Static Syllabus: </a:t>
            </a:r>
            <a:r>
              <a:rPr>
                <a:solidFill>
                  <a:srgbClr val="475569"/>
                </a:solidFill>
              </a:rPr>
              <a:t>Finish core theoretical concepts before Prelims.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Objective Evaluation: </a:t>
            </a:r>
            <a:r>
              <a:rPr>
                <a:solidFill>
                  <a:srgbClr val="475569"/>
                </a:solidFill>
              </a:rPr>
              <a:t>Thinker-anchored answers get top marks consistently.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2. Massive GS &amp; Essay Overlap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GS Paper 1 (Society): </a:t>
            </a:r>
            <a:r>
              <a:rPr>
                <a:solidFill>
                  <a:srgbClr val="475569"/>
                </a:solidFill>
              </a:rPr>
              <a:t>~75 marks directly covered (Caste, Women, Urbanization).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125-Mark Essay: </a:t>
            </a:r>
            <a:r>
              <a:rPr>
                <a:solidFill>
                  <a:srgbClr val="475569"/>
                </a:solidFill>
              </a:rPr>
              <a:t>Provides strong sociological frameworks for social essays.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GS Paper 4 (Ethics): </a:t>
            </a:r>
            <a:r>
              <a:rPr>
                <a:solidFill>
                  <a:srgbClr val="475569"/>
                </a:solidFill>
              </a:rPr>
              <a:t>Enriches understanding of values, norms &amp; case studies.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3. Easy &amp; Accessible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No Prior Background: </a:t>
            </a:r>
            <a:r>
              <a:rPr>
                <a:solidFill>
                  <a:srgbClr val="475569"/>
                </a:solidFill>
              </a:rPr>
              <a:t>Engineering, Science &amp; Commerce students excel equally.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Relatable Real Reality: </a:t>
            </a:r>
            <a:r>
              <a:rPr>
                <a:solidFill>
                  <a:srgbClr val="475569"/>
                </a:solidFill>
              </a:rPr>
              <a:t>Study family, caste, gender, and social movements.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Compact Footprint: </a:t>
            </a:r>
            <a:r>
              <a:rPr>
                <a:solidFill>
                  <a:srgbClr val="475569"/>
                </a:solidFill>
              </a:rPr>
              <a:t>Smaller syllabus footprint compared to History/Geography.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Syllabus Breakdown (Sociology Me Kya Padhte Hain?)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Paper 1: Fundamentals of Sociology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Sociology as Science: </a:t>
            </a:r>
            <a:r>
              <a:rPr>
                <a:solidFill>
                  <a:srgbClr val="475569"/>
                </a:solidFill>
              </a:rPr>
              <a:t>Methodology, Positivism vs Interpretive paradigms.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6 Core Western Thinkers: </a:t>
            </a:r>
            <a:r>
              <a:rPr>
                <a:solidFill>
                  <a:srgbClr val="475569"/>
                </a:solidFill>
              </a:rPr>
              <a:t>Marx, Durkheim, Weber, Parsons, Merton, Mead.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Social Stratification: </a:t>
            </a:r>
            <a:r>
              <a:rPr>
                <a:solidFill>
                  <a:srgbClr val="475569"/>
                </a:solidFill>
              </a:rPr>
              <a:t>Concepts of Class, Status, Gender &amp; Social Mobility.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Social Institutions: </a:t>
            </a:r>
            <a:r>
              <a:rPr>
                <a:solidFill>
                  <a:srgbClr val="475569"/>
                </a:solidFill>
              </a:rPr>
              <a:t>Work &amp; Economy, Politics, Religion, Family &amp; Kinship.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Paper 2: Indian Society Structure &amp;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Perspectives on India: </a:t>
            </a:r>
            <a:r>
              <a:rPr>
                <a:solidFill>
                  <a:srgbClr val="475569"/>
                </a:solidFill>
              </a:rPr>
              <a:t>Indology (Ghurye), Structural-Functionalism (Srinivas), Marxist (Desai).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Social Structure: </a:t>
            </a:r>
            <a:r>
              <a:rPr>
                <a:solidFill>
                  <a:srgbClr val="475569"/>
                </a:solidFill>
              </a:rPr>
              <a:t>Caste system, agrarian class, untouchability, tribal issues.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Social Transformation: </a:t>
            </a:r>
            <a:r>
              <a:rPr>
                <a:solidFill>
                  <a:srgbClr val="475569"/>
                </a:solidFill>
              </a:rPr>
              <a:t>Modernization, Green Revolution, Peasant/Tribal movements.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Paper 1 + 2 Linkage: </a:t>
            </a:r>
            <a:r>
              <a:rPr>
                <a:solidFill>
                  <a:srgbClr val="475569"/>
                </a:solidFill>
              </a:rPr>
              <a:t>Applying Paper 1 thinkers' theories to Indian social realities.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Pillar #1: Answer Writing Mastery (Answer Writing Kaise Karein?)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1. Anatomy of 250+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Introduction (10-15%): </a:t>
            </a:r>
            <a:r>
              <a:rPr>
                <a:solidFill>
                  <a:srgbClr val="475569"/>
                </a:solidFill>
              </a:rPr>
              <a:t>Sociological definition or thinker reference.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Body (75-80%): </a:t>
            </a:r>
            <a:r>
              <a:rPr>
                <a:solidFill>
                  <a:srgbClr val="475569"/>
                </a:solidFill>
              </a:rPr>
              <a:t>Multi-perspective arguments, thinker quotes, empirical data.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Conclusion (10-15%): </a:t>
            </a:r>
            <a:r>
              <a:rPr>
                <a:solidFill>
                  <a:srgbClr val="475569"/>
                </a:solidFill>
              </a:rPr>
              <a:t>Synthesis of views &amp; futuristic policy alignment.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2. Managing 10 / 15 / 20 Markers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10-Marker (150 words): </a:t>
            </a:r>
            <a:r>
              <a:rPr>
                <a:solidFill>
                  <a:srgbClr val="475569"/>
                </a:solidFill>
              </a:rPr>
              <a:t>Punchy, direct, 2 core thinkers + clean concept definition.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15-Marker (250 words): </a:t>
            </a:r>
            <a:r>
              <a:rPr>
                <a:solidFill>
                  <a:srgbClr val="475569"/>
                </a:solidFill>
              </a:rPr>
              <a:t>Multidimensional points, Indian context + counter-views.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20-Marker (250-300w): </a:t>
            </a:r>
            <a:r>
              <a:rPr>
                <a:solidFill>
                  <a:srgbClr val="475569"/>
                </a:solidFill>
              </a:rPr>
              <a:t>Deep critical analysis, thinker comparisons &amp; synthesis.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3. Value Additions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Key Terminology: </a:t>
            </a:r>
            <a:r>
              <a:rPr>
                <a:solidFill>
                  <a:srgbClr val="475569"/>
                </a:solidFill>
              </a:rPr>
              <a:t>Anomie, Hegemony, Sanskritization, Little/Great Traditions.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Thinker Anchoring: </a:t>
            </a:r>
            <a:r>
              <a:rPr>
                <a:solidFill>
                  <a:srgbClr val="475569"/>
                </a:solidFill>
              </a:rPr>
              <a:t>Avoid plain GS style; anchor arguments with sociologists.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Empirical Data: </a:t>
            </a:r>
            <a:r>
              <a:rPr>
                <a:solidFill>
                  <a:srgbClr val="475569"/>
                </a:solidFill>
              </a:rPr>
              <a:t>Quote NFHS, Census, NITI Aayog &amp; EPW studies.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Pillar #2: 360° Brainstorming (60 Seconds Mind Mapping)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1. 3 Sociological Lenses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Functionalist Lens: </a:t>
            </a:r>
            <a:r>
              <a:rPr>
                <a:solidFill>
                  <a:srgbClr val="475569"/>
                </a:solidFill>
              </a:rPr>
              <a:t>Social order, consensus, harmony, and integration.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Conflict / Marxist Lens: </a:t>
            </a:r>
            <a:r>
              <a:rPr>
                <a:solidFill>
                  <a:srgbClr val="475569"/>
                </a:solidFill>
              </a:rPr>
              <a:t>Power dynamics, class struggle, exploitation &amp; inequality.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Feminist Lens: </a:t>
            </a:r>
            <a:r>
              <a:rPr>
                <a:solidFill>
                  <a:srgbClr val="475569"/>
                </a:solidFill>
              </a:rPr>
              <a:t>Gender impact, patriarchy, unpaid labor, intersectionality.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2. Analytical 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PESTLE Model: </a:t>
            </a:r>
            <a:r>
              <a:rPr>
                <a:solidFill>
                  <a:srgbClr val="475569"/>
                </a:solidFill>
              </a:rPr>
              <a:t>Political, Economic, Social, Tech, Legal, Environmental angles.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Micro vs. Macro: </a:t>
            </a:r>
            <a:r>
              <a:rPr>
                <a:solidFill>
                  <a:srgbClr val="475569"/>
                </a:solidFill>
              </a:rPr>
              <a:t>Individual agency (Mead/Goffman) vs. Macro structures (Marx/Parsons).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Tradition vs Modernity: </a:t>
            </a:r>
            <a:r>
              <a:rPr>
                <a:solidFill>
                  <a:srgbClr val="475569"/>
                </a:solidFill>
              </a:rPr>
              <a:t>Continuity of traditional norms alongside modern institutions.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3. 60-Second Mind Map Drill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Deconstruct Keyword: </a:t>
            </a:r>
            <a:r>
              <a:rPr>
                <a:solidFill>
                  <a:srgbClr val="475569"/>
                </a:solidFill>
              </a:rPr>
              <a:t>Understand 'Critically Examine', 'Elucidate', 'Discuss'.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Draft 5 Points: </a:t>
            </a:r>
            <a:r>
              <a:rPr>
                <a:solidFill>
                  <a:srgbClr val="475569"/>
                </a:solidFill>
              </a:rPr>
              <a:t>Write 5 quick keywords in margin before writing full answer.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Visual Presentation: </a:t>
            </a:r>
            <a:r>
              <a:rPr>
                <a:solidFill>
                  <a:srgbClr val="475569"/>
                </a:solidFill>
              </a:rPr>
              <a:t>Use mini-tables, side headings, and underlined key terms.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Pillar #3: Content Structuring &amp; Interlinkages (Paper 1 + 2 Linkage)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Paper 1 + Paper 2 Interlinkage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Karl Marx ➔ Indian Agrarian Distress: </a:t>
            </a:r>
            <a:r>
              <a:rPr>
                <a:solidFill>
                  <a:srgbClr val="475569"/>
                </a:solidFill>
              </a:rPr>
              <a:t>Alienation &amp; class struggle applied to Green Revolution inequality.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Max Weber ➔ Indian Administration: </a:t>
            </a:r>
            <a:r>
              <a:rPr>
                <a:solidFill>
                  <a:srgbClr val="475569"/>
                </a:solidFill>
              </a:rPr>
              <a:t>Rational-legal authority vs patrimonialism in governance.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Durkheim ➔ Anomie &amp; Farmer Suicides: </a:t>
            </a:r>
            <a:r>
              <a:rPr>
                <a:solidFill>
                  <a:srgbClr val="475569"/>
                </a:solidFill>
              </a:rPr>
              <a:t>Breakdown of traditional social solidarity in modern times.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Feminist Thinkers ➔ Dalit Feminism: </a:t>
            </a:r>
            <a:r>
              <a:rPr>
                <a:solidFill>
                  <a:srgbClr val="475569"/>
                </a:solidFill>
              </a:rPr>
              <a:t>Sharmila Rege's Dalit standpoint theory in Indian caste matrix.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Dynamic Content &amp; Visual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Current Affairs Integration: </a:t>
            </a:r>
            <a:r>
              <a:rPr>
                <a:solidFill>
                  <a:srgbClr val="475569"/>
                </a:solidFill>
              </a:rPr>
              <a:t>Link daily news (Caste Census, Gig Workers, Urbanization) to theory.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Visual Flowcharts &amp; Tables: </a:t>
            </a:r>
            <a:r>
              <a:rPr>
                <a:solidFill>
                  <a:srgbClr val="475569"/>
                </a:solidFill>
              </a:rPr>
              <a:t>Use thinker comparison tables, Venn diagrams, and process cycles.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Empirical Field Studies: </a:t>
            </a:r>
            <a:r>
              <a:rPr>
                <a:solidFill>
                  <a:srgbClr val="475569"/>
                </a:solidFill>
              </a:rPr>
              <a:t>Cite Srinivas (Rampura), Beteille (Sripuram), Gail Omvedt, Sujata Patel.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Clean Paragraphing: </a:t>
            </a:r>
            <a:r>
              <a:rPr>
                <a:solidFill>
                  <a:srgbClr val="475569"/>
                </a:solidFill>
              </a:rPr>
              <a:t>Structured 3-4 line paragraphs with bold key concepts.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Pillar #4: Smart Note-Making Strategy (Smart Notes Kaise Banayein?)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1. One-Page Thinker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Core Methodology: </a:t>
            </a:r>
            <a:r>
              <a:rPr>
                <a:solidFill>
                  <a:srgbClr val="475569"/>
                </a:solidFill>
              </a:rPr>
              <a:t>Positivist / Interpretive / Critical stance in 2 lines.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Key Theories &amp; Terms: </a:t>
            </a:r>
            <a:r>
              <a:rPr>
                <a:solidFill>
                  <a:srgbClr val="475569"/>
                </a:solidFill>
              </a:rPr>
              <a:t>Top 4-5 concepts with exact definitions.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Major Critiques: </a:t>
            </a:r>
            <a:r>
              <a:rPr>
                <a:solidFill>
                  <a:srgbClr val="475569"/>
                </a:solidFill>
              </a:rPr>
              <a:t>Counter-thinkers and flaws.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Mains PYQ Utility: </a:t>
            </a:r>
            <a:r>
              <a:rPr>
                <a:solidFill>
                  <a:srgbClr val="475569"/>
                </a:solidFill>
              </a:rPr>
              <a:t>Where to use this thinker in PYQs.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2. Value Addition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Data &amp; Fact Book: </a:t>
            </a:r>
            <a:r>
              <a:rPr>
                <a:solidFill>
                  <a:srgbClr val="475569"/>
                </a:solidFill>
              </a:rPr>
              <a:t>NFHS-5, Census, NITI Aayog &amp; NCRB statistics.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Sociologists &amp; Books: </a:t>
            </a:r>
            <a:r>
              <a:rPr>
                <a:solidFill>
                  <a:srgbClr val="475569"/>
                </a:solidFill>
              </a:rPr>
              <a:t>Index of famous books and authors.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Government Schemes: </a:t>
            </a:r>
            <a:r>
              <a:rPr>
                <a:solidFill>
                  <a:srgbClr val="475569"/>
                </a:solidFill>
              </a:rPr>
              <a:t>Sociological evaluation of welfare policies.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3. PYQ-Centric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10-Year PYQ Mapping: </a:t>
            </a:r>
            <a:r>
              <a:rPr>
                <a:solidFill>
                  <a:srgbClr val="475569"/>
                </a:solidFill>
              </a:rPr>
              <a:t>Group past questions topic-wise.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Ready Intro-Conclusions: </a:t>
            </a:r>
            <a:r>
              <a:rPr>
                <a:solidFill>
                  <a:srgbClr val="475569"/>
                </a:solidFill>
              </a:rPr>
              <a:t>Templates for recurring sub-themes.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50-Page Micro-Notes: </a:t>
            </a:r>
            <a:r>
              <a:rPr>
                <a:solidFill>
                  <a:srgbClr val="475569"/>
                </a:solidFill>
              </a:rPr>
              <a:t>Ultra-condensed rapid revision notes before Mains.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Batch Learning Methodology (Hum Kaise Padhenge?)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1. Zero-to-Hero Lectures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Conceptual Clarity: </a:t>
            </a:r>
            <a:r>
              <a:rPr>
                <a:solidFill>
                  <a:srgbClr val="475569"/>
                </a:solidFill>
              </a:rPr>
              <a:t>Start from NCERT foundation up to Haralambos &amp; Ritzer level.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Bilingual (Hinglish): </a:t>
            </a:r>
            <a:r>
              <a:rPr>
                <a:solidFill>
                  <a:srgbClr val="475569"/>
                </a:solidFill>
              </a:rPr>
              <a:t>Easy Hinglish explanation with real-life Indian examples.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Thinker Masterclasses: </a:t>
            </a:r>
            <a:r>
              <a:rPr>
                <a:solidFill>
                  <a:srgbClr val="475569"/>
                </a:solidFill>
              </a:rPr>
              <a:t>Dedicated deep-dive sessions on all core thinkers.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2. Daily &amp; Weekly Drills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Daily 1-Question Practice: </a:t>
            </a:r>
            <a:r>
              <a:rPr>
                <a:solidFill>
                  <a:srgbClr val="475569"/>
                </a:solidFill>
              </a:rPr>
              <a:t>Build daily writing habit without burnout.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Live Answer Deconstruction: </a:t>
            </a:r>
            <a:r>
              <a:rPr>
                <a:solidFill>
                  <a:srgbClr val="475569"/>
                </a:solidFill>
              </a:rPr>
              <a:t>Break down model answers live in class.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Brainstorming Workshops: </a:t>
            </a:r>
            <a:r>
              <a:rPr>
                <a:solidFill>
                  <a:srgbClr val="475569"/>
                </a:solidFill>
              </a:rPr>
              <a:t>Weekly live drills on complex PYQs.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3. Curated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Crisp Mind Maps: </a:t>
            </a:r>
            <a:r>
              <a:rPr>
                <a:solidFill>
                  <a:srgbClr val="475569"/>
                </a:solidFill>
              </a:rPr>
              <a:t>Handouts eliminating heavy multi-book reading.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10-Year PYQ Bank: </a:t>
            </a:r>
            <a:r>
              <a:rPr>
                <a:solidFill>
                  <a:srgbClr val="475569"/>
                </a:solidFill>
              </a:rPr>
              <a:t>Solved model answers for 10 years' questions.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Current Sociology Digest: </a:t>
            </a:r>
            <a:r>
              <a:rPr>
                <a:solidFill>
                  <a:srgbClr val="475569"/>
                </a:solidFill>
              </a:rPr>
              <a:t>Monthly compilation of sociological current affairs.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Mentorship Roadmap (3-Phase Action Plan)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Phase 1: Foundation (W1-8)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Focus: </a:t>
            </a:r>
            <a:r>
              <a:rPr>
                <a:solidFill>
                  <a:srgbClr val="475569"/>
                </a:solidFill>
              </a:rPr>
              <a:t>Paper 1 Fundamentals &amp; 6 Western Thinkers.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Activity: </a:t>
            </a:r>
            <a:r>
              <a:rPr>
                <a:solidFill>
                  <a:srgbClr val="475569"/>
                </a:solidFill>
              </a:rPr>
              <a:t>Concept building, note making &amp; daily 1 answer.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Milestone: </a:t>
            </a:r>
            <a:r>
              <a:rPr>
                <a:solidFill>
                  <a:srgbClr val="475569"/>
                </a:solidFill>
              </a:rPr>
              <a:t>Complete mastery over theoretical foundation.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Phase 2: Application (W9-16)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Focus: </a:t>
            </a:r>
            <a:r>
              <a:rPr>
                <a:solidFill>
                  <a:srgbClr val="475569"/>
                </a:solidFill>
              </a:rPr>
              <a:t>Paper 2 Indian Society &amp; Paper 1-2 interlinkages.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Activity: </a:t>
            </a:r>
            <a:r>
              <a:rPr>
                <a:solidFill>
                  <a:srgbClr val="475569"/>
                </a:solidFill>
              </a:rPr>
              <a:t>Sectional Tests + Value addition data integration.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Milestone: </a:t>
            </a:r>
            <a:r>
              <a:rPr>
                <a:solidFill>
                  <a:srgbClr val="475569"/>
                </a:solidFill>
              </a:rPr>
              <a:t>100% syllabus coverage &amp; PYQ mapping.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Phase 3: Mains Drill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Focus: </a:t>
            </a:r>
            <a:r>
              <a:rPr>
                <a:solidFill>
                  <a:srgbClr val="475569"/>
                </a:solidFill>
              </a:rPr>
              <a:t>Full Length Tests under real exam conditions.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Activity: </a:t>
            </a:r>
            <a:r>
              <a:rPr>
                <a:solidFill>
                  <a:srgbClr val="475569"/>
                </a:solidFill>
              </a:rPr>
              <a:t>1-on-1 Mentorship evaluation &amp; speed optimization.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Milestone: </a:t>
            </a:r>
            <a:r>
              <a:rPr>
                <a:solidFill>
                  <a:srgbClr val="475569"/>
                </a:solidFill>
              </a:rPr>
              <a:t>300+ Marks Readiness in Mains!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Day 1 Action Plan (Aapka Pehla Kadam)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1. Immediate Day 1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Print Syllabus: </a:t>
            </a:r>
            <a:r>
              <a:rPr>
                <a:solidFill>
                  <a:srgbClr val="475569"/>
                </a:solidFill>
              </a:rPr>
              <a:t>Keep printed syllabus on study table; read keywords daily.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NCERT Reading: </a:t>
            </a:r>
            <a:r>
              <a:rPr>
                <a:solidFill>
                  <a:srgbClr val="475569"/>
                </a:solidFill>
              </a:rPr>
              <a:t>Read Class 11th &amp; 12th Sociology NCERTs carefully.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PYQ Scanning: </a:t>
            </a:r>
            <a:r>
              <a:rPr>
                <a:solidFill>
                  <a:srgbClr val="475569"/>
                </a:solidFill>
              </a:rPr>
              <a:t>Browse past 5 years' papers to understand question style.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2. Recommended Booklist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Paper 1 Base: </a:t>
            </a:r>
            <a:r>
              <a:rPr>
                <a:solidFill>
                  <a:srgbClr val="475569"/>
                </a:solidFill>
              </a:rPr>
              <a:t>Haralambos &amp; Holborn (Essential/Orange) or Ritzer (Thinkers).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Paper 2 Base: </a:t>
            </a:r>
            <a:r>
              <a:rPr>
                <a:solidFill>
                  <a:srgbClr val="475569"/>
                </a:solidFill>
              </a:rPr>
              <a:t>Social Change in Modern India (MN Srinivas) &amp; Ram Ahuja.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Class Handouts: </a:t>
            </a:r>
            <a:r>
              <a:rPr>
                <a:solidFill>
                  <a:srgbClr val="475569"/>
                </a:solidFill>
              </a:rPr>
              <a:t>Our curated consolidated handouts will be primary!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Georgia"/>
              </a:defRPr>
            </a:pPr>
            <a:r>
              <a:t>3. Golden Mantra &amp; 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48840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Consistency Over Intensity: </a:t>
            </a:r>
            <a:r>
              <a:rPr>
                <a:solidFill>
                  <a:srgbClr val="475569"/>
                </a:solidFill>
              </a:rPr>
              <a:t>Write 1 answer daily rather than 10 once a month.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Trust the Process: </a:t>
            </a:r>
            <a:r>
              <a:rPr>
                <a:solidFill>
                  <a:srgbClr val="475569"/>
                </a:solidFill>
              </a:rPr>
              <a:t>Sociology is rewarding when approached logically.</a:t>
            </a:r>
          </a:p>
          <a:p>
            <a:pPr>
              <a:spcAft>
                <a:spcPts val="1000"/>
              </a:spcAft>
              <a:defRPr sz="1300">
                <a:latin typeface="Calibri"/>
              </a:defRPr>
            </a:pPr>
            <a:r>
              <a:rPr b="1">
                <a:solidFill>
                  <a:srgbClr val="0D9488"/>
                </a:solidFill>
              </a:rPr>
              <a:t>• Open Floor for Doubts: </a:t>
            </a:r>
            <a:r>
              <a:rPr>
                <a:solidFill>
                  <a:srgbClr val="475569"/>
                </a:solidFill>
              </a:rPr>
              <a:t>Let's address all your questions and doubts now!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