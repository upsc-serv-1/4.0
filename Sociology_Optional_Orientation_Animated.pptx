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5014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88575" y="640080"/>
            <a:ext cx="1188720" cy="1188720"/>
          </a:xfrm>
          <a:prstGeom prst="ellipse">
            <a:avLst/>
          </a:prstGeom>
          <a:solidFill>
            <a:srgbClr val="C9A22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3" name="Image 0" descr="/home/claude/socio_deck/icons/gradc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6037" y="907542"/>
            <a:ext cx="653796" cy="653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UPSC CSE MAINS  ·  ORIENTATION SESSION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77240" y="23774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Sociology Optional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429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Society. Writing Better Answers.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4114800"/>
            <a:ext cx="23774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CC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“Don't just study Sociology. Learn to see society differently.”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THIS OPTIONAL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Sociology, Why Now?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socio_deck/icons/chartline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977" y="2239137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6654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High-Scoring Optional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274320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compact, static syllabus with predictable patterns — consistently among the better-scoring optionals when prepared systematically.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82880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08483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1" name="Image 1" descr="/home/claude/socio_deck/icons/sitemap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1097" y="2239137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6654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Synergy With the Rest of the Exam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336792" y="274320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overlap directly with GS-I, GS-II, Essay and the Interview — one subject, multiple returns.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64515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6" name="Image 2" descr="/home/claude/socio_deck/icons/newspaper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977" y="4799457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2686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Relevance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04672" y="530352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read and explain caste, gender, family, poverty and social change — the fabric of Indian society itself.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38912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64515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21" name="Image 3" descr="/home/claude/socio_deck/icons/book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097" y="4799457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62686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Stable, Learnable Syllabus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336792" y="530352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Thinkers and themes have stayed largely consistent for years — depth built once pays off across both papers.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DISCIPLINE, DEFINED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Sociology?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84632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C9A22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socio_deck/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00400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Sociology is the systematic study of society — of social relationships, institutions, and the shared patterns that hold group life together.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4892040"/>
            <a:ext cx="4206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asks a simple question in endless forms — why do people, groups and institutions behave the way they do?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715000" y="1828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STUDY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15000" y="23408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6016752" y="2157984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Structure &amp; Institutions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16752" y="2542032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marriage, religion, economy and polity as interlinked systems.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715000" y="336499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6016752" y="3182112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Stratification &amp; Social Change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016752" y="3566160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caste, gender and the forces that drive or resist change.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0" y="438912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6016752" y="4206240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&amp; Socialization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016752" y="4590288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norms, values and identity are learned, shared and passed 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715000" y="541324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7"/>
          <p:cNvSpPr/>
          <p:nvPr/>
        </p:nvSpPr>
        <p:spPr>
          <a:xfrm>
            <a:off x="6016752" y="5230368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Sociological Theory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016752" y="5614416"/>
            <a:ext cx="5623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Thinkers and perspectives used to explain and interpret social life.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SOCIOLOGICAL THOUGHT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Thinkers You'll Meet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45820" y="205740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dash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5" name="Image 0" descr="/home/claude/socio_deck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02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Auguste Comte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386791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of Sociology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150794" y="205740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dash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9" name="Image 1" descr="/home/claude/socio_deck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834" y="2377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53614" y="3502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Karl Marx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853614" y="386791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Conflict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55768" y="205740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dash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3" name="Image 2" descr="/home/claude/socio_deck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237744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8588" y="3502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Émile Durkheim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158588" y="386791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Facts &amp; Solidarity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760741" y="205740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dash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17" name="Image 3" descr="/home/claude/socio_deck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781" y="237744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63561" y="3502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Weber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7463561" y="386791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Action &amp; Rationality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10065715" y="2057400"/>
            <a:ext cx="1280160" cy="1280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dash"/>
          </a:ln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21" name="Image 4" descr="/home/claude/socio_deck/icons/us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5755" y="237744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768535" y="35021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M.N. Srinivas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9768535" y="3867912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Sanskritisation &amp; Indian Society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548640" y="5989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theory we study traces back to one of these five minds — including India's own voice in the discipline.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GOOD EFFORT DOESN'T ALWAYS SCORE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Preparation Alone Isn't Enough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work matters — but the right strategy matters even more.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677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HOLDS STUDENTS BACK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" y="2935224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43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facts instead of concepts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3419856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27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 from too many sources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3904488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thinkers in isolation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4389120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9709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previous year questions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4873752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6817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answer writing too late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20116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2677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COURSE HELPS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28232" y="293522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743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Concept-first learning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28232" y="341985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227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Thinker-based understanding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390448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71246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affairs integration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28232" y="438912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19709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PYQ-oriented preparation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28232" y="487375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6817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+ revision framework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0607040" cy="640080"/>
          </a:xfrm>
          <a:prstGeom prst="roundRect">
            <a:avLst>
              <a:gd name="adj" fmla="val 50000"/>
            </a:avLst>
          </a:prstGeom>
          <a:solidFill>
            <a:srgbClr val="EDEF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Concepts  →  Better Analysis  →  Better Answers  →  Higher Scores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MENTOR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Learn With Me?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socio_deck/icons/chartline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77" y="2239137"/>
            <a:ext cx="377190" cy="3771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6654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260+ Sociology Score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4672" y="274320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command over Paper I &amp; II, built through consistent concept-first preparation — not shortcuts.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080760" y="182880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36792" y="208483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1" name="Image 1" descr="/home/claude/socio_deck/icons/sitemap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097" y="2239137"/>
            <a:ext cx="377190" cy="3771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6654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Get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336792" y="274320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structured, repeatable framework that shaped this Sociology score — built here for you to follow.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38912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64515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6" name="Image 2" descr="/home/claude/socio_deck/icons/newspap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977" y="4799457"/>
            <a:ext cx="377190" cy="3771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62686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UPSC-Oriented Approach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04672" y="530352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thinkers, current affairs and PYQs into every answer — not theory studied in isolation.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080760" y="4389120"/>
            <a:ext cx="50749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36792" y="4645152"/>
            <a:ext cx="685800" cy="6858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21" name="Image 3" descr="/home/claude/socio_deck/icons/boo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1097" y="4799457"/>
            <a:ext cx="377190" cy="3771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626864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Concept-First Foundation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336792" y="5303520"/>
            <a:ext cx="4562856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journey built on conceptual clarity and answer writing — not rote memorisation.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 animBg="1"/>
      <p:bldP spid="17" grpId="0" animBg="1"/>
      <p:bldP spid="18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FRAMEWORK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Study Every Topic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75208" y="246888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5208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5168" y="3566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935328" y="2423160"/>
            <a:ext cx="896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31440" y="246888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1440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1400" y="3566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791560" y="2423160"/>
            <a:ext cx="896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87672" y="246888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7672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367632" y="3566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Affairs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47792" y="2423160"/>
            <a:ext cx="896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43904" y="246888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43904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23864" y="3566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PYQ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04024" y="2423160"/>
            <a:ext cx="896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00136" y="246888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00136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080096" y="3566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60256" y="2423160"/>
            <a:ext cx="89611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256368" y="2468880"/>
            <a:ext cx="960120" cy="96012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256368" y="246888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936328" y="356616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907128" y="4892040"/>
            <a:ext cx="23774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1206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isn't to memorise Sociology — it's to develop a sociological way of thinking.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PREPARATION GOES WRONG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Students Not Scoring Well?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attempts fail not from a lack of effort, but from a few avoidable, fixable gaps.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2677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&amp; CONTENT GAPS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" y="2935224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743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conceptual clarity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3419856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27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 instead of understanding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96112" y="3904488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71246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content structuring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6112" y="4389120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9709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Thinkers not linked to current issues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4873752"/>
            <a:ext cx="100584" cy="100584"/>
          </a:xfrm>
          <a:prstGeom prst="ellipse">
            <a:avLst/>
          </a:prstGeom>
          <a:solidFill>
            <a:srgbClr val="AEB4C4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6817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Inadequate revision and practice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0760" y="201168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267712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&amp; EXAM-CRAFT GAPS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28232" y="2935224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74320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answer-writing skills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28232" y="3419856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322783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diagrams, flowcharts, examples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28232" y="390448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712464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introductions and conclusions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28232" y="4389120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4197096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time and word-limit control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28232" y="4873752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4681728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and current affairs kept apart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0607040" cy="640080"/>
          </a:xfrm>
          <a:prstGeom prst="roundRect">
            <a:avLst>
              <a:gd name="adj" fmla="val 50000"/>
            </a:avLst>
          </a:prstGeom>
          <a:solidFill>
            <a:srgbClr val="EDEF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Gap  →  Fix the Approach  →  Write Better  →  Score Higher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MARKS ARE ACTUALLY WON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1: Answer Writing Mastery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169164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5" name="Image 0" descr="/home/claude/socio_deck/icons/pen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20002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answer is opened, argued and closed decides the score — not just how much is known.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" y="283464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51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Openings &amp; Closings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044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an answer with a crisp introduction and a value-added conclusion.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Thinkers &amp; Examples in Support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14400" y="39136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Weaving in the right sociologist, study or illustration to back every claim.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45720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Diagrams &amp; Flowcharts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4400" y="4782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visual representation to communicate structure and save writing time.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544068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257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Word-Limit Discipline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14400" y="5650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depth into the space and minutes each question actually allows.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BLANK PAGE TO FULL ANSWER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2: Brainstorming &amp; Structuring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socio_deck/icons/lightbulb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59" y="236943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108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Brainstorming Techniques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96112" y="381304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/>
          <p:nvPr/>
        </p:nvSpPr>
        <p:spPr>
          <a:xfrm>
            <a:off x="1170432" y="36393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keyword mapping the moment you read a question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45262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1170432" y="435254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Dimension-based recall — social, economic, political, cultural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96112" y="523951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170432" y="506577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60-second skeleton before writing a single line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8076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2194560"/>
            <a:ext cx="777240" cy="77724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6" name="Image 1" descr="/home/claude/socio_deck/icons/sitemap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679" y="2369439"/>
            <a:ext cx="427482" cy="4274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31089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Structuring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6428232" y="3813048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5"/>
          <p:cNvSpPr/>
          <p:nvPr/>
        </p:nvSpPr>
        <p:spPr>
          <a:xfrm>
            <a:off x="6702552" y="3639312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Thinker-wise vs theme-wise structuring, and when to use each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28232" y="4526280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7"/>
          <p:cNvSpPr/>
          <p:nvPr/>
        </p:nvSpPr>
        <p:spPr>
          <a:xfrm>
            <a:off x="6702552" y="4352544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Point-wise paragraphing for easy examiner scanning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28232" y="5239512"/>
            <a:ext cx="109728" cy="10972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19"/>
          <p:cNvSpPr/>
          <p:nvPr/>
        </p:nvSpPr>
        <p:spPr>
          <a:xfrm>
            <a:off x="6702552" y="5065776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sequencing: concept, dimensions, examples, critique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3" grpId="0" animBg="1"/>
      <p:bldP spid="17" grpId="0" animBg="1"/>
      <p:bldP spid="19" grpId="0" animBg="1"/>
      <p:bldP spid="21" grpId="0" animBg="1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YOU CAN ACTUALLY REVISE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3: Note-Making Strategies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92640" y="1691640"/>
            <a:ext cx="1371600" cy="137160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5" name="Image 0" descr="/home/claude/socio_deck/icons/boo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200025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737360"/>
            <a:ext cx="8778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notes are built for the exam room, not for admiration — short, layered, and easy to revise.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" y="283464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651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Thinker-Wise Compilation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04495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consolidated page per sociologist — core ideas, terms and criticism.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94360" y="370332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Theme-Wise Cross-Referencing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914400" y="391363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the same thinker or concept across different topics of the syllabus.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4360" y="457200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43891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Running Current Affairs Diary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914400" y="47823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real-world examples as they happen, tagged to the right theme.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5440680"/>
            <a:ext cx="146304" cy="14630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" y="52578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One-Page Revision Sheets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14400" y="565099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Condensing full topics down to exam-morning-ready summaries.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ROTE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4: Conceptual &amp; Analytical Thinking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206240" cy="416052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E2761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868680" cy="868680"/>
          </a:xfrm>
          <a:prstGeom prst="ellipse">
            <a:avLst/>
          </a:prstGeom>
          <a:solidFill>
            <a:srgbClr val="C9A227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6" name="Image 0" descr="/home/claude/socio_deck/icons/bra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33" y="2390013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are tools for thinking, not lines to memorise.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skill builds the habit of reasoning through a question rather than reproducing a memorised paragraph.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74920" y="21671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8424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Over Definitions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394960" y="237744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concept was proposed, not only what it states.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74920" y="346557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3282696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Comparative Reading of Thinkers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394960" y="3675888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perspectives side by side to see where they agree or clash.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074920" y="476402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45811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Critical Lens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394960" y="4974336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Questioning and evaluating theories instead of accepting them at face value.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THEORY COUNT ON PAPER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5: Current Affairs &amp; Scoring High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241280" cy="1051560"/>
          </a:xfrm>
          <a:prstGeom prst="roundRect">
            <a:avLst>
              <a:gd name="adj" fmla="val 8696"/>
            </a:avLst>
          </a:prstGeom>
          <a:solidFill>
            <a:srgbClr val="EDEF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56232"/>
            <a:ext cx="9692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DURKHEIM'S LENS ON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Durkheim's ideas of social integration and anomie explain rising urban isolation and suicide rates in modern India — theory becomes a live analytical tool, not a memorised definition.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0749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33756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9" name="Image 0" descr="/home/claude/socio_deck/icons/newspape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266" y="3481578"/>
            <a:ext cx="352044" cy="3520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335584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Meets Real Life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868680" y="431596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12394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every classical theory with a live, contemporary example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51846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1"/>
          <p:cNvSpPr/>
          <p:nvPr/>
        </p:nvSpPr>
        <p:spPr>
          <a:xfrm>
            <a:off x="1115568" y="499262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news through a sociological lens, not a current-affairs one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80760" y="3063240"/>
            <a:ext cx="5074920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73368" y="333756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25000"/>
              </a:srgbClr>
            </a:outerShdw>
          </a:effectLst>
        </p:spPr>
      </p:sp>
      <p:pic>
        <p:nvPicPr>
          <p:cNvPr id="17" name="Image 1" descr="/home/claude/socio_deck/icons/trophy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386" y="3481578"/>
            <a:ext cx="352044" cy="3520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335584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High in the Paper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6400800" y="431596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6"/>
          <p:cNvSpPr/>
          <p:nvPr/>
        </p:nvSpPr>
        <p:spPr>
          <a:xfrm>
            <a:off x="6647688" y="412394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way examiners are trained to reward, not just to inform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0" y="5184648"/>
            <a:ext cx="100584" cy="10058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647688" y="499262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value-addition — data, diagrams, committee references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2" grpId="0" animBg="1"/>
      <p:bldP spid="14" grpId="0" animBg="1"/>
      <p:bldP spid="18" grpId="0" animBg="1"/>
      <p:bldP spid="20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6858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Become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is designed to transform the way you study Sociology.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798168" y="2148840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262E6E"/>
          </a:solidFill>
          <a:ln/>
        </p:spPr>
      </p:sp>
      <p:sp>
        <p:nvSpPr>
          <p:cNvPr id="5" name="Text 3"/>
          <p:cNvSpPr/>
          <p:nvPr/>
        </p:nvSpPr>
        <p:spPr>
          <a:xfrm>
            <a:off x="2163928" y="2148840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64328" y="2148840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61608" y="2148840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798168" y="2935224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262E6E"/>
          </a:solidFill>
          <a:ln/>
        </p:spPr>
      </p:sp>
      <p:sp>
        <p:nvSpPr>
          <p:cNvPr id="9" name="Text 7"/>
          <p:cNvSpPr/>
          <p:nvPr/>
        </p:nvSpPr>
        <p:spPr>
          <a:xfrm>
            <a:off x="2163928" y="2935224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64328" y="2935224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61608" y="2935224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Clarity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98168" y="3721608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262E6E"/>
          </a:solidFill>
          <a:ln/>
        </p:spPr>
      </p:sp>
      <p:sp>
        <p:nvSpPr>
          <p:cNvPr id="13" name="Text 11"/>
          <p:cNvSpPr/>
          <p:nvPr/>
        </p:nvSpPr>
        <p:spPr>
          <a:xfrm>
            <a:off x="2163928" y="3721608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64328" y="3721608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61608" y="3721608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Revision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798168" y="4507992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262E6E"/>
          </a:solidFill>
          <a:ln/>
        </p:spPr>
      </p:sp>
      <p:sp>
        <p:nvSpPr>
          <p:cNvPr id="17" name="Text 15"/>
          <p:cNvSpPr/>
          <p:nvPr/>
        </p:nvSpPr>
        <p:spPr>
          <a:xfrm>
            <a:off x="2163928" y="4507992"/>
            <a:ext cx="3291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B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Answers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64328" y="4507992"/>
            <a:ext cx="1097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61608" y="4507992"/>
            <a:ext cx="3566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UPSC-Ready Answers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5522976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Better  ·  Write Better  ·  Score Better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SOCIOLOGY OPTIONAL  |  UPSC CSE MAINS ORIENTATION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E9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1257</Words>
  <Application>Microsoft Office PowerPoint</Application>
  <PresentationFormat>Widescreen</PresentationFormat>
  <Paragraphs>211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Yogesh Dangi</cp:lastModifiedBy>
  <cp:revision>2</cp:revision>
  <dcterms:created xsi:type="dcterms:W3CDTF">2026-07-21T19:07:33Z</dcterms:created>
  <dcterms:modified xsi:type="dcterms:W3CDTF">2026-07-21T20:07:51Z</dcterms:modified>
</cp:coreProperties>
</file>